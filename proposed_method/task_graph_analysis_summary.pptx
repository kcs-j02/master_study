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645920" cy="32004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300" b="1">
                <a:solidFill>
                  <a:srgbClr val="7DDFD3"/>
                </a:solidFill>
                <a:latin typeface="Noto Sans CJK JP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Noto Sans CJK JP"/>
              </a:rPr>
              <a:t>STG解析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60320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900" b="0">
                <a:solidFill>
                  <a:srgbClr val="DBE7F0"/>
                </a:solidFill>
                <a:latin typeface="Noto Sans CJK JP"/>
              </a:rPr>
              <a:t>タスク依存関係と並列性を、後段のStream設計へ渡せる形に変換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069080"/>
            <a:ext cx="10789920" cy="1143000"/>
          </a:xfrm>
          <a:prstGeom prst="roundRect">
            <a:avLst/>
          </a:prstGeom>
          <a:solidFill>
            <a:srgbClr val="1F3D5D"/>
          </a:solidFill>
          <a:ln w="12700">
            <a:solidFill>
              <a:srgbClr val="406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4279392"/>
            <a:ext cx="10241280" cy="65836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CJK JP"/>
              </a:rPr>
              <a:t>STG  →  TaskSpec  →  TaskDFG  →  TaskLevels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53328"/>
            <a:ext cx="5486400" cy="2286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100" b="0">
                <a:solidFill>
                  <a:srgbClr val="AEC2D3"/>
                </a:solidFill>
                <a:latin typeface="Noto Sans CJK JP"/>
              </a:rPr>
              <a:t>01_stg_analysis.hpp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10528"/>
            <a:ext cx="594360" cy="16459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r"/>
            <a:r>
              <a:rPr sz="900" b="0">
                <a:solidFill>
                  <a:srgbClr val="AEC2D3"/>
                </a:solidFill>
                <a:latin typeface="Noto Sans CJK JP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88720" cy="29260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Noto Sans CJK JP"/>
              </a:rPr>
              <a:t>01 / 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064240" cy="54864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2700" b="1">
                <a:solidFill>
                  <a:srgbClr val="162B46"/>
                </a:solidFill>
                <a:latin typeface="Noto Sans CJK JP"/>
              </a:rPr>
              <a:t>何を解析し、何を後段へ渡すか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881360" cy="32004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200" b="0">
                <a:solidFill>
                  <a:srgbClr val="5B6977"/>
                </a:solidFill>
                <a:latin typeface="Noto Sans CJK JP"/>
              </a:rPr>
              <a:t>Stage 1の出力は、実行構成選択とStream割当の入力になる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900" b="0">
                <a:solidFill>
                  <a:srgbClr val="5B6977"/>
                </a:solidFill>
                <a:latin typeface="Noto Sans CJK JP"/>
              </a:rPr>
              <a:t>STG提案手法 / 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94360" cy="16459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r"/>
            <a:r>
              <a:rPr sz="900" b="0">
                <a:solidFill>
                  <a:srgbClr val="5B6977"/>
                </a:solidFill>
                <a:latin typeface="Noto Sans CJK JP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3337560" cy="347472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2743200" cy="41148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600" b="1">
                <a:solidFill>
                  <a:srgbClr val="2A68A9"/>
                </a:solidFill>
                <a:latin typeface="Noto Sans CJK JP"/>
              </a:rPr>
              <a:t>入力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2743200" cy="7315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2500" b="1">
                <a:solidFill>
                  <a:srgbClr val="162B46"/>
                </a:solidFill>
                <a:latin typeface="Noto Sans CJK JP"/>
              </a:rPr>
              <a:t>STGファイル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56432"/>
            <a:ext cx="2743200" cy="64008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500" b="0">
                <a:solidFill>
                  <a:srgbClr val="5B6977"/>
                </a:solidFill>
                <a:latin typeface="Noto Sans CJK JP"/>
              </a:rPr>
              <a:t>タスク / proc_time / preds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74519"/>
            <a:ext cx="3337560" cy="3474720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9D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21408"/>
            <a:ext cx="2743200" cy="41148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600" b="1">
                <a:solidFill>
                  <a:srgbClr val="008B8B"/>
                </a:solidFill>
                <a:latin typeface="Noto Sans CJK JP"/>
              </a:rPr>
              <a:t>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51760"/>
            <a:ext cx="2743200" cy="7315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2200" b="1">
                <a:solidFill>
                  <a:srgbClr val="162B46"/>
                </a:solidFill>
                <a:latin typeface="Noto Sans CJK JP"/>
              </a:rPr>
              <a:t>依存関係を構造化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456432"/>
            <a:ext cx="2743200" cy="64008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500" b="0">
                <a:solidFill>
                  <a:srgbClr val="5B6977"/>
                </a:solidFill>
                <a:latin typeface="Noto Sans CJK JP"/>
              </a:rPr>
              <a:t>DFG構築 / level化 / 幅の抽出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874519"/>
            <a:ext cx="3429000" cy="347472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0B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121408"/>
            <a:ext cx="2743200" cy="41148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600" b="1">
                <a:solidFill>
                  <a:srgbClr val="DE772A"/>
                </a:solidFill>
                <a:latin typeface="Noto Sans CJK JP"/>
              </a:rPr>
              <a:t>出力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651760"/>
            <a:ext cx="2743200" cy="7315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2200" b="1">
                <a:solidFill>
                  <a:srgbClr val="162B46"/>
                </a:solidFill>
                <a:latin typeface="Noto Sans CJK JP"/>
              </a:rPr>
              <a:t>StgAnalysisResult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456432"/>
            <a:ext cx="2743200" cy="86868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500" b="0">
                <a:solidFill>
                  <a:srgbClr val="5B6977"/>
                </a:solidFill>
                <a:latin typeface="Noto Sans CJK JP"/>
              </a:rPr>
              <a:t>graph / tasks / dfg / levels
Stream数決定に利用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31920" y="3611880"/>
            <a:ext cx="411480" cy="0"/>
          </a:xfrm>
          <a:prstGeom prst="line">
            <a:avLst/>
          </a:prstGeom>
          <a:ln w="25400">
            <a:solidFill>
              <a:srgbClr val="2A6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26679" y="3611880"/>
            <a:ext cx="411481" cy="0"/>
          </a:xfrm>
          <a:prstGeom prst="line">
            <a:avLst/>
          </a:prstGeom>
          <a:ln w="25400">
            <a:solidFill>
              <a:srgbClr val="2A6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88720" cy="29260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Noto Sans CJK JP"/>
              </a:rPr>
              <a:t>02 / 処理フロー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064240" cy="54864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2700" b="1">
                <a:solidFill>
                  <a:srgbClr val="162B46"/>
                </a:solidFill>
                <a:latin typeface="Noto Sans CJK JP"/>
              </a:rPr>
              <a:t>解析は4段階で進む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881360" cy="32004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200" b="0">
                <a:solidFill>
                  <a:srgbClr val="5B6977"/>
                </a:solidFill>
                <a:latin typeface="Noto Sans CJK JP"/>
              </a:rPr>
              <a:t>analyze_stg(path) がStage 1の入口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900" b="0">
                <a:solidFill>
                  <a:srgbClr val="5B6977"/>
                </a:solidFill>
                <a:latin typeface="Noto Sans CJK JP"/>
              </a:rPr>
              <a:t>STG提案手法 / 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94360" cy="16459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r"/>
            <a:r>
              <a:rPr sz="900" b="0">
                <a:solidFill>
                  <a:srgbClr val="5B6977"/>
                </a:solidFill>
                <a:latin typeface="Noto Sans CJK JP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2331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103120"/>
            <a:ext cx="2331720" cy="438912"/>
          </a:xfrm>
          <a:prstGeom prst="round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185416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743200"/>
            <a:ext cx="1965960" cy="5029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2100" b="1">
                <a:solidFill>
                  <a:srgbClr val="162B46"/>
                </a:solidFill>
                <a:latin typeface="Noto Sans CJK JP"/>
              </a:rPr>
              <a:t>STG読込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429000"/>
            <a:ext cx="1965960" cy="5029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300" b="0">
                <a:solidFill>
                  <a:srgbClr val="5B6977"/>
                </a:solidFill>
                <a:latin typeface="Noto Sans CJK JP"/>
              </a:rPr>
              <a:t>load_stg_without_comm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71800" y="3246120"/>
            <a:ext cx="411479" cy="0"/>
          </a:xfrm>
          <a:prstGeom prst="line">
            <a:avLst/>
          </a:prstGeom>
          <a:ln w="25400">
            <a:solidFill>
              <a:srgbClr val="2A6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74720" y="2103120"/>
            <a:ext cx="2331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2103120"/>
            <a:ext cx="2331720" cy="438912"/>
          </a:xfrm>
          <a:prstGeom prst="roundRect">
            <a:avLst/>
          </a:prstGeom>
          <a:solidFill>
            <a:srgbClr val="008B8B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185416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743200"/>
            <a:ext cx="1965960" cy="5029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2100" b="1">
                <a:solidFill>
                  <a:srgbClr val="162B46"/>
                </a:solidFill>
                <a:latin typeface="Noto Sans CJK JP"/>
              </a:rPr>
              <a:t>TaskSpec生成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3429000"/>
            <a:ext cx="1965960" cy="5029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300" b="0">
                <a:solidFill>
                  <a:srgbClr val="5B6977"/>
                </a:solidFill>
                <a:latin typeface="Noto Sans CJK JP"/>
              </a:rPr>
              <a:t>proc_timeで属性付与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52160" y="3246120"/>
            <a:ext cx="411480" cy="0"/>
          </a:xfrm>
          <a:prstGeom prst="line">
            <a:avLst/>
          </a:prstGeom>
          <a:ln w="25400">
            <a:solidFill>
              <a:srgbClr val="2A6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55080" y="2103120"/>
            <a:ext cx="2331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7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2103120"/>
            <a:ext cx="2331720" cy="438912"/>
          </a:xfrm>
          <a:prstGeom prst="roundRect">
            <a:avLst/>
          </a:prstGeom>
          <a:solidFill>
            <a:srgbClr val="DE772A"/>
          </a:solidFill>
          <a:ln w="12700">
            <a:solidFill>
              <a:srgbClr val="DE7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2185416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743200"/>
            <a:ext cx="1965960" cy="5029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2100" b="1">
                <a:solidFill>
                  <a:srgbClr val="162B46"/>
                </a:solidFill>
                <a:latin typeface="Noto Sans CJK JP"/>
              </a:rPr>
              <a:t>DFG構築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429000"/>
            <a:ext cx="1965960" cy="5029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300" b="0">
                <a:solidFill>
                  <a:srgbClr val="5B6977"/>
                </a:solidFill>
                <a:latin typeface="Noto Sans CJK JP"/>
              </a:rPr>
              <a:t>preds / succs / indeg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32520" y="3246120"/>
            <a:ext cx="411480" cy="0"/>
          </a:xfrm>
          <a:prstGeom prst="line">
            <a:avLst/>
          </a:prstGeom>
          <a:ln w="25400">
            <a:solidFill>
              <a:srgbClr val="2A6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235440" y="2103120"/>
            <a:ext cx="2331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0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35440" y="2103120"/>
            <a:ext cx="2331720" cy="438912"/>
          </a:xfrm>
          <a:prstGeom prst="roundRect">
            <a:avLst/>
          </a:prstGeom>
          <a:solidFill>
            <a:srgbClr val="805CA5"/>
          </a:solidFill>
          <a:ln w="12700">
            <a:solidFill>
              <a:srgbClr val="80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81744" y="2185416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2743200"/>
            <a:ext cx="1965960" cy="5029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2100" b="1">
                <a:solidFill>
                  <a:srgbClr val="162B46"/>
                </a:solidFill>
                <a:latin typeface="Noto Sans CJK JP"/>
              </a:rPr>
              <a:t>Level化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3429000"/>
            <a:ext cx="1965960" cy="5029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300" b="0">
                <a:solidFill>
                  <a:srgbClr val="5B6977"/>
                </a:solidFill>
                <a:latin typeface="Noto Sans CJK JP"/>
              </a:rPr>
              <a:t>cycle検出 + 並列幅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983480"/>
            <a:ext cx="10241280" cy="73152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5148072"/>
            <a:ext cx="9784080" cy="38404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500" b="1">
                <a:solidFill>
                  <a:srgbClr val="162B46"/>
                </a:solidFill>
                <a:latin typeface="Noto Sans CJK JP"/>
              </a:rPr>
              <a:t>戻り値: graph + tasks + dfg + levels  |  後段はlevelsから最大並列幅とStream数を決定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88720" cy="29260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Noto Sans CJK JP"/>
              </a:rPr>
              <a:t>03 / データ構造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064240" cy="54864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2700" b="1">
                <a:solidFill>
                  <a:srgbClr val="162B46"/>
                </a:solidFill>
                <a:latin typeface="Noto Sans CJK JP"/>
              </a:rPr>
              <a:t>タスクを「依存グラフ」と「実行レベル」で二重に表現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881360" cy="32004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200" b="0">
                <a:solidFill>
                  <a:srgbClr val="5B6977"/>
                </a:solidFill>
                <a:latin typeface="Noto Sans CJK JP"/>
              </a:rPr>
              <a:t>局所的な隣接関係と、全体の並列性を分けて扱う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900" b="0">
                <a:solidFill>
                  <a:srgbClr val="5B6977"/>
                </a:solidFill>
                <a:latin typeface="Noto Sans CJK JP"/>
              </a:rPr>
              <a:t>STG提案手法 / 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94360" cy="16459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r"/>
            <a:r>
              <a:rPr sz="900" b="0">
                <a:solidFill>
                  <a:srgbClr val="5B6977"/>
                </a:solidFill>
                <a:latin typeface="Noto Sans CJK JP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5303520" cy="3977639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663440" cy="36576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2000" b="1">
                <a:solidFill>
                  <a:srgbClr val="162B46"/>
                </a:solidFill>
                <a:latin typeface="Noto Sans CJK JP"/>
              </a:rPr>
              <a:t>NodeInfo / TaskDFG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16352"/>
            <a:ext cx="82296" cy="82296"/>
          </a:xfrm>
          <a:prstGeom prst="round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697480"/>
            <a:ext cx="4315968" cy="34747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Noto Sans CJK JP"/>
              </a:rPr>
              <a:t>id: タスク識別子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91840"/>
            <a:ext cx="82296" cy="82296"/>
          </a:xfrm>
          <a:prstGeom prst="round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172968"/>
            <a:ext cx="4315968" cy="34747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Noto Sans CJK JP"/>
              </a:rPr>
              <a:t>preds / succs: 前後関係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67328"/>
            <a:ext cx="82296" cy="82296"/>
          </a:xfrm>
          <a:prstGeom prst="round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648456"/>
            <a:ext cx="4315968" cy="34747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Noto Sans CJK JP"/>
              </a:rPr>
              <a:t>indeg: 未処理の先行数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42816"/>
            <a:ext cx="82296" cy="82296"/>
          </a:xfrm>
          <a:prstGeom prst="round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123944"/>
            <a:ext cx="4315968" cy="34747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Noto Sans CJK JP"/>
              </a:rPr>
              <a:t>proc_time: 実行時間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718304"/>
            <a:ext cx="82296" cy="82296"/>
          </a:xfrm>
          <a:prstGeom prst="round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99432"/>
            <a:ext cx="4315968" cy="34747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Noto Sans CJK JP"/>
              </a:rPr>
              <a:t>order: 入力順を保持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828800"/>
            <a:ext cx="5303520" cy="3977639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9D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057400"/>
            <a:ext cx="4663440" cy="36576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2000" b="1">
                <a:solidFill>
                  <a:srgbClr val="162B46"/>
                </a:solidFill>
                <a:latin typeface="Noto Sans CJK JP"/>
              </a:rPr>
              <a:t>TaskLevels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33472"/>
            <a:ext cx="4572000" cy="41148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500" b="1">
                <a:solidFill>
                  <a:srgbClr val="008B8B"/>
                </a:solidFill>
                <a:latin typeface="Noto Sans CJK JP"/>
              </a:rPr>
              <a:t>vector&lt;vector&lt;int&gt;&gt;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154680"/>
            <a:ext cx="4572000" cy="5029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700" b="0">
                <a:solidFill>
                  <a:srgbClr val="232B34"/>
                </a:solidFill>
                <a:latin typeface="Noto Sans CJK JP"/>
              </a:rPr>
              <a:t>同じlevel内のタスクは、
依存関係上は同時に開始可能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4160520"/>
            <a:ext cx="1143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279392"/>
            <a:ext cx="1143000" cy="20116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200" b="1">
                <a:solidFill>
                  <a:srgbClr val="008B8B"/>
                </a:solidFill>
                <a:latin typeface="Noto Sans CJK JP"/>
              </a:rPr>
              <a:t>L0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553712"/>
            <a:ext cx="1143000" cy="2286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800" b="1">
                <a:solidFill>
                  <a:srgbClr val="162B46"/>
                </a:solidFill>
                <a:latin typeface="Noto Sans CJK JP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4160520"/>
            <a:ext cx="1143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4279392"/>
            <a:ext cx="1143000" cy="20116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200" b="1">
                <a:solidFill>
                  <a:srgbClr val="008B8B"/>
                </a:solidFill>
                <a:latin typeface="Noto Sans CJK JP"/>
              </a:rPr>
              <a:t>L1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553712"/>
            <a:ext cx="1143000" cy="2286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800" b="1">
                <a:solidFill>
                  <a:srgbClr val="162B46"/>
                </a:solidFill>
                <a:latin typeface="Noto Sans CJK JP"/>
              </a:rPr>
              <a:t>1, 2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4160520"/>
            <a:ext cx="1143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0" y="4279392"/>
            <a:ext cx="1143000" cy="20116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200" b="1">
                <a:solidFill>
                  <a:srgbClr val="008B8B"/>
                </a:solidFill>
                <a:latin typeface="Noto Sans CJK JP"/>
              </a:rPr>
              <a:t>L2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553712"/>
            <a:ext cx="1143000" cy="2286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800" b="1">
                <a:solidFill>
                  <a:srgbClr val="162B46"/>
                </a:solidFill>
                <a:latin typeface="Noto Sans CJK JP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88720" cy="29260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Noto Sans CJK JP"/>
              </a:rPr>
              <a:t>04 / LEVEL化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064240" cy="54864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2700" b="1">
                <a:solidFill>
                  <a:srgbClr val="162B46"/>
                </a:solidFill>
                <a:latin typeface="Noto Sans CJK JP"/>
              </a:rPr>
              <a:t>indegreeを減らしながら、トポロジカルに層を作る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881360" cy="32004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200" b="0">
                <a:solidFill>
                  <a:srgbClr val="5B6977"/>
                </a:solidFill>
                <a:latin typeface="Noto Sans CJK JP"/>
              </a:rPr>
              <a:t>cycleがある場合は、levelを作れず例外として検出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900" b="0">
                <a:solidFill>
                  <a:srgbClr val="5B6977"/>
                </a:solidFill>
                <a:latin typeface="Noto Sans CJK JP"/>
              </a:rPr>
              <a:t>STG提案手法 / 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94360" cy="16459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r"/>
            <a:r>
              <a:rPr sz="900" b="0">
                <a:solidFill>
                  <a:srgbClr val="5B6977"/>
                </a:solidFill>
                <a:latin typeface="Noto Sans CJK JP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5212080" cy="36576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700" b="1">
                <a:solidFill>
                  <a:srgbClr val="2A68A9"/>
                </a:solidFill>
                <a:latin typeface="Noto Sans CJK JP"/>
              </a:rPr>
              <a:t>アルゴリズム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450591"/>
            <a:ext cx="82296" cy="82296"/>
          </a:xfrm>
          <a:prstGeom prst="round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956048" cy="34747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400" b="0">
                <a:solidFill>
                  <a:srgbClr val="232B34"/>
                </a:solidFill>
                <a:latin typeface="Noto Sans CJK JP"/>
              </a:rPr>
              <a:t>1. remaining_indeg = 各ノードのindegで初期化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926079"/>
            <a:ext cx="82296" cy="82296"/>
          </a:xfrm>
          <a:prstGeom prst="round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07208"/>
            <a:ext cx="4956048" cy="34747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400" b="0">
                <a:solidFill>
                  <a:srgbClr val="232B34"/>
                </a:solidFill>
                <a:latin typeface="Noto Sans CJK JP"/>
              </a:rPr>
              <a:t>2. remaining_indeg == 0 の未割当タスクを集める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401568"/>
            <a:ext cx="82296" cy="82296"/>
          </a:xfrm>
          <a:prstGeom prst="round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82696"/>
            <a:ext cx="4956048" cy="34747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400" b="0">
                <a:solidFill>
                  <a:srgbClr val="232B34"/>
                </a:solidFill>
                <a:latin typeface="Noto Sans CJK JP"/>
              </a:rPr>
              <a:t>3. そのタスクを同じlevelへ登録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877055"/>
            <a:ext cx="82296" cy="82296"/>
          </a:xfrm>
          <a:prstGeom prst="round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58183"/>
            <a:ext cx="4956048" cy="34747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400" b="0">
                <a:solidFill>
                  <a:srgbClr val="232B34"/>
                </a:solidFill>
                <a:latin typeface="Noto Sans CJK JP"/>
              </a:rPr>
              <a:t>4. 後続タスクのindegを1つ減らす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352544"/>
            <a:ext cx="82296" cy="82296"/>
          </a:xfrm>
          <a:prstGeom prst="round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33672"/>
            <a:ext cx="4956048" cy="34747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400" b="0">
                <a:solidFill>
                  <a:srgbClr val="232B34"/>
                </a:solidFill>
                <a:latin typeface="Noto Sans CJK JP"/>
              </a:rPr>
              <a:t>5. 全ノード割当まで繰り返す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828800"/>
            <a:ext cx="512064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057400"/>
            <a:ext cx="4389120" cy="32004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700" b="1">
                <a:solidFill>
                  <a:srgbClr val="162B46"/>
                </a:solidFill>
                <a:latin typeface="Noto Sans CJK JP"/>
              </a:rPr>
              <a:t>例: 0 → {1,2} →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926080"/>
            <a:ext cx="640080" cy="640080"/>
          </a:xfrm>
          <a:prstGeom prst="round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044952"/>
            <a:ext cx="640080" cy="2743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4023360"/>
            <a:ext cx="640080" cy="640080"/>
          </a:xfrm>
          <a:prstGeom prst="roundRect">
            <a:avLst/>
          </a:prstGeom>
          <a:solidFill>
            <a:srgbClr val="008B8B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4142232"/>
            <a:ext cx="640080" cy="2743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64040" y="4023360"/>
            <a:ext cx="640080" cy="640080"/>
          </a:xfrm>
          <a:prstGeom prst="roundRect">
            <a:avLst/>
          </a:prstGeom>
          <a:solidFill>
            <a:srgbClr val="008B8B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4142232"/>
            <a:ext cx="640080" cy="2743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926080"/>
            <a:ext cx="640080" cy="640080"/>
          </a:xfrm>
          <a:prstGeom prst="roundRect">
            <a:avLst/>
          </a:prstGeom>
          <a:solidFill>
            <a:srgbClr val="DE772A"/>
          </a:solidFill>
          <a:ln w="12700">
            <a:solidFill>
              <a:srgbClr val="DE7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3044952"/>
            <a:ext cx="640080" cy="2743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52360" y="3246120"/>
            <a:ext cx="411480" cy="978408"/>
          </a:xfrm>
          <a:prstGeom prst="line">
            <a:avLst/>
          </a:prstGeom>
          <a:ln w="25400">
            <a:solidFill>
              <a:srgbClr val="5B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52360" y="3246120"/>
            <a:ext cx="1965960" cy="978408"/>
          </a:xfrm>
          <a:prstGeom prst="line">
            <a:avLst/>
          </a:prstGeom>
          <a:ln w="25400">
            <a:solidFill>
              <a:srgbClr val="5B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549640" y="3246120"/>
            <a:ext cx="1691640" cy="1097280"/>
          </a:xfrm>
          <a:prstGeom prst="line">
            <a:avLst/>
          </a:prstGeom>
          <a:ln w="25400">
            <a:solidFill>
              <a:srgbClr val="5B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012680" y="3246120"/>
            <a:ext cx="228600" cy="1097280"/>
          </a:xfrm>
          <a:prstGeom prst="line">
            <a:avLst/>
          </a:prstGeom>
          <a:ln w="25400">
            <a:solidFill>
              <a:srgbClr val="5B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729984" y="4965192"/>
            <a:ext cx="914400" cy="2286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100" b="1">
                <a:solidFill>
                  <a:srgbClr val="5B6977"/>
                </a:solidFill>
                <a:latin typeface="Noto Sans CJK JP"/>
              </a:rPr>
              <a:t>L0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4965192"/>
            <a:ext cx="914400" cy="2286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100" b="1">
                <a:solidFill>
                  <a:srgbClr val="5B6977"/>
                </a:solidFill>
                <a:latin typeface="Noto Sans CJK JP"/>
              </a:rPr>
              <a:t>L1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4965192"/>
            <a:ext cx="914400" cy="2286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100" b="1">
                <a:solidFill>
                  <a:srgbClr val="5B6977"/>
                </a:solidFill>
                <a:latin typeface="Noto Sans CJK JP"/>
              </a:rPr>
              <a:t>L2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5285232"/>
            <a:ext cx="4389120" cy="50292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0B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5394960"/>
            <a:ext cx="4023360" cy="2286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300" b="1">
                <a:solidFill>
                  <a:srgbClr val="DE772A"/>
                </a:solidFill>
                <a:latin typeface="Noto Sans CJK JP"/>
              </a:rPr>
              <a:t>level.empty() → cycle detected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88720" cy="29260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Noto Sans CJK JP"/>
              </a:rPr>
              <a:t>05 / 並列性の抽出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064240" cy="54864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2700" b="1">
                <a:solidFill>
                  <a:srgbClr val="162B46"/>
                </a:solidFill>
                <a:latin typeface="Noto Sans CJK JP"/>
              </a:rPr>
              <a:t>proc_timeでタスク属性を付け、level幅からStream数を決める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881360" cy="32004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200" b="0">
                <a:solidFill>
                  <a:srgbClr val="5B6977"/>
                </a:solidFill>
                <a:latin typeface="Noto Sans CJK JP"/>
              </a:rPr>
              <a:t>解析結果は後段の実行構成候補の上限を決める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900" b="0">
                <a:solidFill>
                  <a:srgbClr val="5B6977"/>
                </a:solidFill>
                <a:latin typeface="Noto Sans CJK JP"/>
              </a:rPr>
              <a:t>STG提案手法 / 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94360" cy="16459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r"/>
            <a:r>
              <a:rPr sz="900" b="0">
                <a:solidFill>
                  <a:srgbClr val="5B6977"/>
                </a:solidFill>
                <a:latin typeface="Noto Sans CJK JP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5394960" cy="35661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663440" cy="32004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800" b="1">
                <a:solidFill>
                  <a:srgbClr val="162B46"/>
                </a:solidFill>
                <a:latin typeface="Noto Sans CJK JP"/>
              </a:rPr>
              <a:t>タスク属性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97480"/>
            <a:ext cx="2103120" cy="9144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0B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52928"/>
            <a:ext cx="2103120" cy="2286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200" b="1">
                <a:solidFill>
                  <a:srgbClr val="DE772A"/>
                </a:solidFill>
                <a:latin typeface="Noto Sans CJK JP"/>
              </a:rPr>
              <a:t>proc_time &gt;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91256"/>
            <a:ext cx="2103120" cy="2286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400" b="1">
                <a:solidFill>
                  <a:srgbClr val="162B46"/>
                </a:solidFill>
                <a:latin typeface="Noto Sans CJK JP"/>
              </a:rPr>
              <a:t>HEAVY / work_units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697480"/>
            <a:ext cx="2103120" cy="914400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9D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852928"/>
            <a:ext cx="2103120" cy="2286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200" b="1">
                <a:solidFill>
                  <a:srgbClr val="008B8B"/>
                </a:solidFill>
                <a:latin typeface="Noto Sans CJK JP"/>
              </a:rPr>
              <a:t>proc_time &lt;=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191256"/>
            <a:ext cx="2103120" cy="2286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400" b="1">
                <a:solidFill>
                  <a:srgbClr val="162B46"/>
                </a:solidFill>
                <a:latin typeface="Noto Sans CJK JP"/>
              </a:rPr>
              <a:t>LIGHT / work_units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4709160" cy="64008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400" b="0">
                <a:solidFill>
                  <a:srgbClr val="5B6977"/>
                </a:solidFill>
                <a:latin typeface="Noto Sans CJK JP"/>
              </a:rPr>
              <a:t>共通設定: parallel_sm_limit = 114
proc_timeの基準は64 SM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828800"/>
            <a:ext cx="5257800" cy="3566160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9D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057400"/>
            <a:ext cx="4663440" cy="32004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800" b="1">
                <a:solidFill>
                  <a:srgbClr val="162B46"/>
                </a:solidFill>
                <a:latin typeface="Noto Sans CJK JP"/>
              </a:rPr>
              <a:t>Stream数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743200"/>
            <a:ext cx="4663440" cy="50292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2300" b="1">
                <a:solidFill>
                  <a:srgbClr val="008B8B"/>
                </a:solidFill>
                <a:latin typeface="Noto Sans CJK JP"/>
              </a:rPr>
              <a:t>S = min(max level width,
    max_stream_count)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977639"/>
            <a:ext cx="4663440" cy="64008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500" b="0">
                <a:solidFill>
                  <a:srgbClr val="5B6977"/>
                </a:solidFill>
                <a:latin typeface="Noto Sans CJK JP"/>
              </a:rPr>
              <a:t>最大5 Streamまで。
level幅が並列性の上限になる。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88720" cy="29260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Noto Sans CJK JP"/>
              </a:rPr>
              <a:t>06 / 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064240" cy="54864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2700" b="1">
                <a:solidFill>
                  <a:srgbClr val="162B46"/>
                </a:solidFill>
                <a:latin typeface="Noto Sans CJK JP"/>
              </a:rPr>
              <a:t>Stage 1の要点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881360" cy="32004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200" b="0">
                <a:solidFill>
                  <a:srgbClr val="5B6977"/>
                </a:solidFill>
                <a:latin typeface="Noto Sans CJK JP"/>
              </a:rPr>
              <a:t>後段の設計判断に必要な情報を、検証付きで一度に整える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900" b="0">
                <a:solidFill>
                  <a:srgbClr val="5B6977"/>
                </a:solidFill>
                <a:latin typeface="Noto Sans CJK JP"/>
              </a:rPr>
              <a:t>STG提案手法 / 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94360" cy="164592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r"/>
            <a:r>
              <a:rPr sz="900" b="0">
                <a:solidFill>
                  <a:srgbClr val="5B6977"/>
                </a:solidFill>
                <a:latin typeface="Noto Sans CJK JP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1508760" cy="640080"/>
          </a:xfrm>
          <a:prstGeom prst="roundRect">
            <a:avLst/>
          </a:prstGeom>
          <a:solidFill>
            <a:srgbClr val="2A68A9"/>
          </a:solidFill>
          <a:ln w="12700">
            <a:solidFill>
              <a:srgbClr val="2A6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1508760" cy="2286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構造化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856231"/>
            <a:ext cx="8778240" cy="47548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700" b="0">
                <a:solidFill>
                  <a:srgbClr val="232B34"/>
                </a:solidFill>
                <a:latin typeface="Noto Sans CJK JP"/>
              </a:rPr>
              <a:t>STGのpredsを使って、タスクの前後関係をTaskDFGへ変換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70632"/>
            <a:ext cx="1508760" cy="640080"/>
          </a:xfrm>
          <a:prstGeom prst="roundRect">
            <a:avLst/>
          </a:prstGeom>
          <a:solidFill>
            <a:srgbClr val="008B8B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35224"/>
            <a:ext cx="1508760" cy="2286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並列性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43784"/>
            <a:ext cx="8778240" cy="47548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700" b="0">
                <a:solidFill>
                  <a:srgbClr val="232B34"/>
                </a:solidFill>
                <a:latin typeface="Noto Sans CJK JP"/>
              </a:rPr>
              <a:t>トポロジカルなlevelを作り、同時実行可能な幅を抽出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58184"/>
            <a:ext cx="1508760" cy="640080"/>
          </a:xfrm>
          <a:prstGeom prst="roundRect">
            <a:avLst/>
          </a:prstGeom>
          <a:solidFill>
            <a:srgbClr val="DE772A"/>
          </a:solidFill>
          <a:ln w="12700">
            <a:solidFill>
              <a:srgbClr val="DE7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22776"/>
            <a:ext cx="1508760" cy="2286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分類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831336"/>
            <a:ext cx="8778240" cy="47548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700" b="0">
                <a:solidFill>
                  <a:srgbClr val="232B34"/>
                </a:solidFill>
                <a:latin typeface="Noto Sans CJK JP"/>
              </a:rPr>
              <a:t>proc_timeに基づきHEAVY / LIGHTとwork_unitsを設定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45736"/>
            <a:ext cx="1508760" cy="640080"/>
          </a:xfrm>
          <a:prstGeom prst="roundRect">
            <a:avLst/>
          </a:prstGeom>
          <a:solidFill>
            <a:srgbClr val="805CA5"/>
          </a:solidFill>
          <a:ln w="12700">
            <a:solidFill>
              <a:srgbClr val="80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10328"/>
            <a:ext cx="1508760" cy="2286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安全性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818888"/>
            <a:ext cx="8778240" cy="475488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l"/>
            <a:r>
              <a:rPr sz="1700" b="0">
                <a:solidFill>
                  <a:srgbClr val="232B34"/>
                </a:solidFill>
                <a:latin typeface="Noto Sans CJK JP"/>
              </a:rPr>
              <a:t>重複ID・未知の先行タスク・cycle・不正indegreeを検出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715000"/>
            <a:ext cx="10835640" cy="502920"/>
          </a:xfrm>
          <a:prstGeom prst="roundRect">
            <a:avLst/>
          </a:prstGeom>
          <a:solidFill>
            <a:srgbClr val="162B46"/>
          </a:solidFill>
          <a:ln w="12700">
            <a:solidFill>
              <a:srgbClr val="16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33872"/>
            <a:ext cx="10378440" cy="228600"/>
          </a:xfrm>
          <a:prstGeom prst="rect">
            <a:avLst/>
          </a:prstGeom>
          <a:noFill/>
        </p:spPr>
        <p:txBody>
          <a:bodyPr wrap="square" lIns="54864" rIns="54864" t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出力: StgAnalysisResult  →  Stage 2以降のタスク重要度・Stream割当・実行構成選択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